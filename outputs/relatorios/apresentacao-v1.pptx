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A57"/>
                </a:solidFill>
              </a:defRPr>
            </a:pPr>
            <a:r>
              <a:t>Nano-empreendedores no Brasil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36576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6B7280"/>
                </a:solidFill>
              </a:defRPr>
            </a:pPr>
            <a:r>
              <a:t>Estimativa e Caracterização — Série 2025  ·  FGV NPII / ABEVD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7"/>
                </a:solidFill>
              </a:defRPr>
            </a:pPr>
            <a:r>
              <a:t>Achados principais — Brasil 2025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19,16 milhões de nano-empreendedores (renda anual ≤ R$ 40 mil)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Universo estável ao longo de 2025 (entre 19,15 M e 19,45 M)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13,27 milhões de MEI ativos (cadastro, dez/2025)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MEI cresce 10-15% ao ano: migração informal → formal em curso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Validação cruzada com IBGE: 10 de 11 métricas dentro de Δ &lt; 2%</a:t>
            </a:r>
          </a:p>
        </p:txBody>
      </p:sp>
      <p:pic>
        <p:nvPicPr>
          <p:cNvPr id="4" name="Picture 3" descr="g2_evolucao_brasi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7"/>
                </a:solidFill>
              </a:defRPr>
            </a:pPr>
            <a:r>
              <a:t>Distribuição estadual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SP, MG, RJ concentram ~35% do universo nano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MA, PA, AM têm maior % de conta-própria sobre ocupados (≥30%)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DF tem menor % conta-própria (17%) — mercado mais formal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Densidade absoluta vs proporcional sugerem estratégias distintas</a:t>
            </a:r>
          </a:p>
        </p:txBody>
      </p:sp>
      <p:pic>
        <p:nvPicPr>
          <p:cNvPr id="4" name="Picture 3" descr="g1_nano_por_u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7"/>
                </a:solidFill>
              </a:defRPr>
            </a:pPr>
            <a:r>
              <a:t>Estoque MEI vs universo nano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SP próxima da saturação MEI (98% aparente — superestimado)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BA: 37% formalizado · PA: 23% — espaço para crescimento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Cruzamento agregado por UF (não por CPF — restrição administrativa)</a:t>
            </a:r>
          </a:p>
        </p:txBody>
      </p:sp>
      <p:pic>
        <p:nvPicPr>
          <p:cNvPr id="4" name="Picture 3" descr="g3_pareadas_nano_mei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7"/>
                </a:solidFill>
              </a:defRPr>
            </a:pPr>
            <a:r>
              <a:t>Composição setorial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Agricultura (A) lidera — autônomos rurais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Construção (F), Serviços pessoais (S), Comércio (G), Transformação (C)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Seções G+S = público alinhado ao modelo de venda direta ABEVD</a:t>
            </a:r>
          </a:p>
        </p:txBody>
      </p:sp>
      <p:pic>
        <p:nvPicPr>
          <p:cNvPr id="4" name="Picture 3" descr="g6_setores_cna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7"/>
                </a:solidFill>
              </a:defRPr>
            </a:pPr>
            <a:r>
              <a:t>Recorte estratégico ABEVD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54864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1,14 milhão de mulheres 25-49 em Comércio + Serviços pessoais (nano)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SP (247k) · MG (148k) · RJ (124k) — quase metade do público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Representa 5-8% do universo nano em cada UF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Público naturalmente alinhado ao modelo de consultoras</a:t>
            </a:r>
          </a:p>
        </p:txBody>
      </p:sp>
      <p:pic>
        <p:nvPicPr>
          <p:cNvPr id="4" name="Picture 3" descr="g4_recorte_abev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1188720"/>
            <a:ext cx="5486400" cy="5029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7"/>
                </a:solidFill>
              </a:defRPr>
            </a:pPr>
            <a:r>
              <a:t>Recomendações para a ABEVD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1. Priorizar SP/MG/RJ por volume; expandir em BA/PA/MA pelo potencial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2. Apoiar formalização (parcerias Sebrae) — vento já a favor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3. Segmentar comunicação por perfil regional + setorial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4. Reaplicar estudo trimestralmente para acompanhar tendência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1B3A57"/>
                </a:solidFill>
              </a:defRPr>
            </a:pPr>
            <a:r>
              <a:t>Limitações e próximos passos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188720"/>
            <a:ext cx="10972800" cy="5029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Taxa de formalização superestimada onde teto MEI &gt; teto nano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Censo 2022 (Amostra) não publicado — análise municipal pendente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14% dos nano sem CNAE declarado (V4013 vazia na PNADC)</a:t>
            </a:r>
          </a:p>
          <a:p>
            <a:pPr>
              <a:spcAft>
                <a:spcPts val="1000"/>
              </a:spcAft>
              <a:defRPr sz="1800">
                <a:solidFill>
                  <a:srgbClr val="1B3A57"/>
                </a:solidFill>
              </a:defRPr>
            </a:pPr>
            <a:r>
              <a:t>• Próxima iteração: refinar formalização e adicionar trim-2026 quando publicado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